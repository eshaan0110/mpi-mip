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15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India's Card &amp; Digital Payments Market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Technologies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 Visibility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manufacturers rely on ad-hoc estimates with no systematic forecasting for India's 100M+ card market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from RBI, NPCI, and bank reports is manual, error-prone, and months behind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Bank-Level Blind Spots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forecasts miss bank-specific dynamics — new launches, partnerships, regulatory shifts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signals from circulars, news, and annual reports are discovered too late to act 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platform that scrapes, cleans, models, and serves 24-month forecasts for India's card &amp; payments market — with an autonomous AI agent that continuously improves accuracy.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scrapers for RBI, NPCI data. Cleaning, validation, Supabase storage.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49040" y="228600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4904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Engine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9040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ARIMA + ETS ensemble. 25 bank models. Interactive web dashboard.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583680" y="228600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Agent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3200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web research, Claude extraction, auto-retrain, self-improving models.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Data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 from India's primary payments data 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Bankwise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69164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83280" y="1691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banks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bank-level CC/DC outstanding, ATMs, PoS, transaction volumes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8348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PSI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498080" y="1691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metrics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payment system indicators — CC, DC, UPI monthly volumes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NPCI UPI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315468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83280" y="31546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520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UPI transaction volume and value from NPCI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8348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Repo Rate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98080" y="315468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98080" y="31546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Event-based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520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 as macroeconomic regressor for monetary policy effects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1188720"/>
            <a:ext cx="5943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834640" y="11887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PSI, Bankwise, NPCI, Repo Rate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2011680"/>
            <a:ext cx="5943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34640" y="20116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Validation, Level Splice, Deduplication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834640"/>
            <a:ext cx="5943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834640" y="2834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  &gt;  Processed Layer  &gt;  Serving Layer (11 tables)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3657600"/>
            <a:ext cx="5943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834640" y="3657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ARIMA(1,1,1) + Damped ETS Ensemble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60320" y="4480560"/>
            <a:ext cx="594360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834640" y="44805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Recharts + Tailwind CSS + Vercel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Forecasting Engine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ARIMA(1,1,1) + Damped ETS with per-series cross-validation-optimized weights. Not a single model — three complementary approaches combined.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Bank-Level Coverage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CC + 15 DC issuers modelled individually, covering ~91% CC and ~83% DC of India total. Remaining banks in a residual bucket.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Ground-Up Validation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bank forecasts + residual = India total. Cross-checked against independent aggregate model for consistency.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48-month initial window, 6-month horizon, 6-month step. 90% conformal prediction intervals from CV residual quantiles.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100% minus forecast error (MAPE)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Aggregate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15087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88920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8892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Aggregate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5087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Models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5087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86600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24mo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08660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Coverage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7863840" cy="320040"/>
          </a:xfrm>
          <a:prstGeom prst="roundRect">
            <a:avLst>
              <a:gd name="adj" fmla="val 17143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7156094" cy="320040"/>
          </a:xfrm>
          <a:prstGeom prst="roundRect">
            <a:avLst>
              <a:gd name="adj" fmla="val 1714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— 10 banks + residual = 91% coverage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7863840" cy="320040"/>
          </a:xfrm>
          <a:prstGeom prst="roundRect">
            <a:avLst>
              <a:gd name="adj" fmla="val 17143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6526987" cy="320040"/>
          </a:xfrm>
          <a:prstGeom prst="roundRect">
            <a:avLst>
              <a:gd name="adj" fmla="val 17143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Cards — 15 banks + residual = 83% coverage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Dark-themed, interactive web application deployed on Vercel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aggregate CC/DC forecasts, all-metrics table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83480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Explorer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bank drill-down or multi-bank comparison with ranked 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2724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Builder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date-range, CC/DC toggle, aggregate or bank-level views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83480" y="2724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Drag-to-zoom, brush timeline slider, reset zoom — all Recharts-based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8680" y="3822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badges (96% accurate), MAPE comparison, retrain history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7490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83480" y="3822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Monitor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of agent findings, retrain logs, run history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Next.js 14 + Recharts + Tailwind CSS + Supabase + Vercel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AI Research Agent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pipeline — no human in the 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RBI circulars, bank newsrooms, NPCI announcements, financial news for card-related signals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984248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222199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1762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1762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extracts structured signals — new launches, regulatory changes, partnerships, growth targets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2697480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0080" y="2935224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88950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288950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qualitative findings into quantitative regressors for the ensemble models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3410712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0080" y="364845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6027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34640" y="360273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Prophet + ARIMA + ETS with new regressors, cross-validates against current 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4123944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0080" y="436168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315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834640" y="43159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new MAPE vs baseline. Promotes only if accuracy improves. Never deploys a worse model.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Detects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98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Card Launch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launches co-brand Marriott Bonvoy credit card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12984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937760" y="129844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1298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mandates tokenisation for all card transactions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12984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2960" y="253288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2532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partners with Paytm for new merchant DC program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5328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937760" y="253288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37760" y="2532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Discontinuation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Bank discontinues Buzz credit card 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25328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6576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22960" y="376732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2960" y="3767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Target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targets 20M new credit cards in FY27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37673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937760" y="376732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0" y="3767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Policy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cuts repo rate by 25bps — eases card lending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80960" y="37673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 — 14 tables across 5 layers with RLS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423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Raw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raw_bankwise, raw_psi, raw_repo_rate, raw_npci_upi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Processed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processed_bank_series, processed_aggregate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Serving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forecasts_bank, forecasts_aggregate, model_metadata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Operations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scraper_runs, pipeline_runs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Agent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agent_runs, agent_findings, agent_retrains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840480" y="2560320"/>
            <a:ext cx="14630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— Market Intelligence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Eshaan Adyanthaya  |  MPi Technologies  |  June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851</Words>
  <Application>Microsoft Office PowerPoint</Application>
  <PresentationFormat>On-screen Show (16:9)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 — Market Intelligence Platform</dc:title>
  <dc:subject>PptxGenJS Presentation</dc:subject>
  <dc:creator>Eshaan Adyanthaya</dc:creator>
  <cp:lastModifiedBy>Eshaan Adyanthaya</cp:lastModifiedBy>
  <cp:revision>2</cp:revision>
  <dcterms:created xsi:type="dcterms:W3CDTF">2026-06-28T14:07:55Z</dcterms:created>
  <dcterms:modified xsi:type="dcterms:W3CDTF">2026-06-29T10:24:38Z</dcterms:modified>
</cp:coreProperties>
</file>
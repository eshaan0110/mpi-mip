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2834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India's Card &amp; Digital Payments Market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18288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Technologies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0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50800" dist="12700" dir="27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3533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Forward Visibility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manufacturers rely on ad-hoc estimates with no systematic forecasting for India's 100M+ card market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50800" dist="127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267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&amp; Slow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from RBI, NPCI, and bank reports is manual, error-prone, and months behind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508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31821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Bank-Level Blind Spots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3474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forecasts miss bank-specific dynamics — new launches, partnerships, regulatory shifts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50800" dist="127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40965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Early Warning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3891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signals from circulars, news, and annual reports are discovered too late to act 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platform that scrapes, cleans, models, and serves 24-month forecasts for India's card &amp; payments market — with an autonomous AI agent that continuously improves accuracy.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86000"/>
            <a:ext cx="1280160" cy="320040"/>
          </a:xfrm>
          <a:prstGeom prst="roundRect">
            <a:avLst>
              <a:gd name="adj" fmla="val 17143"/>
            </a:avLst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860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scrapers for RBI, NPCI data. Cleaning, validation, Supabase storage.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210312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49040" y="2286000"/>
            <a:ext cx="1280160" cy="320040"/>
          </a:xfrm>
          <a:prstGeom prst="roundRect">
            <a:avLst>
              <a:gd name="adj" fmla="val 17143"/>
            </a:avLst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3749040" y="22860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4904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Engine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749040" y="32004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+ ARIMA + ETS ensemble. 25 bank models. Interactive web dashboard.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2286000"/>
            <a:ext cx="1280160" cy="320040"/>
          </a:xfrm>
          <a:prstGeom prst="roundRect">
            <a:avLst>
              <a:gd name="adj" fmla="val 17143"/>
            </a:avLst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22860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 Agent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83680" y="32004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web research, Claude extraction, auto-retrain, self-improving models.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Data Pipeline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ingestion from India's primary payments data sources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4048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50800" dist="127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Bankwise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383280" y="1691640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916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banks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bank-level CC/DC outstanding, ATMs, PoS, transaction volumes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554480"/>
            <a:ext cx="384048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508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8348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PSI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98080" y="1691640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0" y="16916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metrics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83480" y="20574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payment system indicators — CC, DC, UPI monthly volumes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017520"/>
            <a:ext cx="384048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50800" dist="127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NPCI UPI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383280" y="3154680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3383280" y="31546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8680" y="352044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UPI transaction volume and value from NPCI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3017520"/>
            <a:ext cx="384048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50800" dist="12700" dir="27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98348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Repo Rate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98080" y="3154680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0" y="31546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Event-based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83480" y="352044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rate as macroeconomic regressor for monetary policy effects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560320" y="118872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/>
        </p:spPr>
      </p:sp>
      <p:sp>
        <p:nvSpPr>
          <p:cNvPr id="6" name="Text 4"/>
          <p:cNvSpPr/>
          <p:nvPr/>
        </p:nvSpPr>
        <p:spPr>
          <a:xfrm>
            <a:off x="2834640" y="11887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PSI, Bankwise, NPCI, Repo Rate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116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0" y="201168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20116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Cleaning, Validation, Level Splice, Deduplication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83464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8346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60320" y="283464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28346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Layer  &gt;  Processed Layer  &gt;  Serving Layer (11 tables)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6576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60320" y="365760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/>
        </p:spPr>
      </p:sp>
      <p:sp>
        <p:nvSpPr>
          <p:cNvPr id="18" name="Text 16"/>
          <p:cNvSpPr/>
          <p:nvPr/>
        </p:nvSpPr>
        <p:spPr>
          <a:xfrm>
            <a:off x="2834640" y="36576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+ ARIMA(1,1,1) + Damped ETS Ensemble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48056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4805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560320" y="448056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/>
        </p:spPr>
      </p:sp>
      <p:sp>
        <p:nvSpPr>
          <p:cNvPr id="22" name="Text 20"/>
          <p:cNvSpPr/>
          <p:nvPr/>
        </p:nvSpPr>
        <p:spPr>
          <a:xfrm>
            <a:off x="2834640" y="44805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 + Recharts + Tailwind CSS + Vercel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Forecasting Engine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840480" cy="160020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325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Approach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+ ARIMA(1,1,1) + Damped ETS with per-series cross-validation-optimized weights. Not a single model — three complementary approaches combined.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840480" cy="160020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0" y="1325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Bank-Level Coverage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7373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CC + 15 DC issuers modelled individually, covering ~91% CC and ~83% DC of India total. Remaining banks in a residual bucket.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3840480" cy="160020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Ground-Up Validation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35661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bank forecasts + residual = India total. Cross-checked against independent aggregate model for consistency.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3017520"/>
            <a:ext cx="3840480" cy="160020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CV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35661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48-month initial window, 6-month horizon, 6-month step. 90% conformal prediction intervals from CV residual quantiles.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Accuracy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= 100% minus forecast error (MAPE)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1920240" cy="2011680"/>
          </a:xfrm>
          <a:prstGeom prst="roundRect">
            <a:avLst>
              <a:gd name="adj" fmla="val 476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~96%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Aggregate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1508760"/>
            <a:ext cx="1920240" cy="2011680"/>
          </a:xfrm>
          <a:prstGeom prst="roundRect">
            <a:avLst>
              <a:gd name="adj" fmla="val 476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88920" y="16916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~93%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27889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Aggregate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37760" y="1508760"/>
            <a:ext cx="1920240" cy="2011680"/>
          </a:xfrm>
          <a:prstGeom prst="roundRect">
            <a:avLst>
              <a:gd name="adj" fmla="val 476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37760" y="16916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93776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Models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086600" y="1508760"/>
            <a:ext cx="1920240" cy="2011680"/>
          </a:xfrm>
          <a:prstGeom prst="roundRect">
            <a:avLst>
              <a:gd name="adj" fmla="val 476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086600" y="16916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24mo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70866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Coverage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160520"/>
            <a:ext cx="7863840" cy="320040"/>
          </a:xfrm>
          <a:prstGeom prst="roundRect">
            <a:avLst>
              <a:gd name="adj" fmla="val 17143"/>
            </a:avLst>
          </a:prstGeom>
          <a:solidFill>
            <a:srgbClr val="E2E8F0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4160520"/>
            <a:ext cx="7156094" cy="320040"/>
          </a:xfrm>
          <a:prstGeom prst="roundRect">
            <a:avLst>
              <a:gd name="adj" fmla="val 17143"/>
            </a:avLst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1605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Cards — 10 banks + residual = 91% coverage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572000"/>
            <a:ext cx="7863840" cy="320040"/>
          </a:xfrm>
          <a:prstGeom prst="roundRect">
            <a:avLst>
              <a:gd name="adj" fmla="val 17143"/>
            </a:avLst>
          </a:prstGeom>
          <a:solidFill>
            <a:srgbClr val="E2E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4572000"/>
            <a:ext cx="6526987" cy="320040"/>
          </a:xfrm>
          <a:prstGeom prst="roundRect">
            <a:avLst>
              <a:gd name="adj" fmla="val 17143"/>
            </a:avLst>
          </a:prstGeom>
          <a:solidFill>
            <a:srgbClr val="14B8A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572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 Cards — 15 banks + residual = 83% coverage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Dark-themed, interactive web application deployed on Vercel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276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cards, aggregate CC/DC forecasts, all-metrics table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55448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983480" y="16276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Explorer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83480" y="1965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bank drill-down or multi-bank comparison with ranked table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72491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Builder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date-range, CC/DC toggle, aggregate or bank-level views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65176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272491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Charts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8348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Drag-to-zoom, brush timeline slider, reset zoom — all Recharts-based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8221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4160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badges (96% accurate), MAPE comparison, retrain history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374904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20" name="Text 18"/>
          <p:cNvSpPr/>
          <p:nvPr/>
        </p:nvSpPr>
        <p:spPr>
          <a:xfrm>
            <a:off x="4983480" y="38221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Monitor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83480" y="4160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 of agent findings, retrain logs, run history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709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Stack: Next.js 14 + Recharts + Tailwind CSS + Supabase + Vercel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AI Research Agent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autonomous pipeline — no human in the loop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834640" y="14630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Crawls RBI circulars, bank newsrooms, NPCI announcements, financial news for card-related signals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" y="1984248"/>
            <a:ext cx="0" cy="18288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21992"/>
            <a:ext cx="457200" cy="45720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17627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34640" y="217627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extracts structured signals — new launches, regulatory changes, partnerships, growth targets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8680" y="2697480"/>
            <a:ext cx="0" cy="18288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935224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935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288950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834640" y="288950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qualitative findings into quantitative regressors for the ensemble models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68680" y="3410712"/>
            <a:ext cx="0" cy="18288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648456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360273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834640" y="3602736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Prophet + ARIMA + ETS with new regressors, cross-validates against current model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68680" y="4123944"/>
            <a:ext cx="0" cy="18288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361688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361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80160" y="43159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834640" y="431596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new MAPE vs baseline. Promotes only if accuracy improves. Never deploys a worse model.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Detects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1E293B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298448"/>
            <a:ext cx="1463040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2984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Card Launch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HDFC launches co-brand Marriott Bonvoy credit card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566160" y="129844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1E293B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1298448"/>
            <a:ext cx="1463040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2984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Change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3776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mandates tokenisation for all card transactions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80960" y="129844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242316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1E293B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2532888"/>
            <a:ext cx="1463040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532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28803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 partners with Paytm for new merchant DC program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66160" y="25328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242316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1E293B"/>
          </a:solidFill>
          <a:ln/>
        </p:spPr>
      </p:sp>
      <p:sp>
        <p:nvSpPr>
          <p:cNvPr id="19" name="Shape 17"/>
          <p:cNvSpPr/>
          <p:nvPr/>
        </p:nvSpPr>
        <p:spPr>
          <a:xfrm>
            <a:off x="4937760" y="2532888"/>
            <a:ext cx="1463040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2532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Discontinuation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28803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Bank discontinues Buzz credit card line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80960" y="25328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365760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1E293B"/>
          </a:solidFill>
          <a:ln/>
        </p:spPr>
      </p:sp>
      <p:sp>
        <p:nvSpPr>
          <p:cNvPr id="24" name="Shape 22"/>
          <p:cNvSpPr/>
          <p:nvPr/>
        </p:nvSpPr>
        <p:spPr>
          <a:xfrm>
            <a:off x="822960" y="3767328"/>
            <a:ext cx="1463040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37673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Target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96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targets 20M new credit cards in FY27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66160" y="37673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365760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1E293B"/>
          </a:solidFill>
          <a:ln/>
        </p:spPr>
      </p:sp>
      <p:sp>
        <p:nvSpPr>
          <p:cNvPr id="29" name="Shape 27"/>
          <p:cNvSpPr/>
          <p:nvPr/>
        </p:nvSpPr>
        <p:spPr>
          <a:xfrm>
            <a:off x="4937760" y="3767328"/>
            <a:ext cx="1463040" cy="256032"/>
          </a:xfrm>
          <a:prstGeom prst="roundRect">
            <a:avLst>
              <a:gd name="adj" fmla="val 17857"/>
            </a:avLst>
          </a:prstGeom>
          <a:solidFill>
            <a:srgbClr val="14B8A6"/>
          </a:solidFill>
          <a:ln/>
        </p:spPr>
      </p:sp>
      <p:sp>
        <p:nvSpPr>
          <p:cNvPr id="30" name="Text 28"/>
          <p:cNvSpPr/>
          <p:nvPr/>
        </p:nvSpPr>
        <p:spPr>
          <a:xfrm>
            <a:off x="4937760" y="37673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Policy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3776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cuts repo rate by 25bps — eases card lending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680960" y="37673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Architecture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 — 14 tables across 5 layers with RLS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7863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303520"/>
                <a:gridCol w="1188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Layer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Tables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Raw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raw_bankwise, raw_psi, raw_repo_rate, raw_npci_upi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Processed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processed_bank_series, processed_aggregate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Serving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forecasts_bank, forecasts_aggregate, model_metadata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Operations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scraper_runs, pipeline_runs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Agent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agent_runs, agent_findings, agent_retrains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Readiness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comprehensive audits conducted before handover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920240" cy="228600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373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82/100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accuracy &amp; methodology audit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554480"/>
            <a:ext cx="1920240" cy="228600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88920" y="17373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88920" y="2194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75/100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926080" y="2926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integrity &amp; security audit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937760" y="1554480"/>
            <a:ext cx="1920240" cy="228600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17373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OMEGA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37760" y="2194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72/100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5074920" y="2926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UX &amp; edge-case audit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86600" y="1554480"/>
            <a:ext cx="1920240" cy="228600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86600" y="17373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086600" y="2194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83/100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223760" y="2926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release consolidation report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206240"/>
            <a:ext cx="7863840" cy="640080"/>
          </a:xfrm>
          <a:prstGeom prst="roundRect">
            <a:avLst>
              <a:gd name="adj" fmla="val 11429"/>
            </a:avLst>
          </a:prstGeom>
          <a:solidFill>
            <a:srgbClr val="33415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2062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Score: 78/100 — Production Ready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40080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Milestone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Automated data pipeline (RBI, NPCI, Repo Rate)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P1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Ensemble forecasting engine (25 bank models)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P2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Interactive web dashboard with dark theme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P2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Forecast Builder with date-range controls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P2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Production readiness audits (78/100)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P2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AI Research Agent — crawl, extract, retrain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P3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B82F6"/>
                          </a:solidFill>
                        </a:rPr>
                        <a:t>→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Agent scheduling (monthly cron, autonomous)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P3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B82F6"/>
                          </a:solidFill>
                        </a:rPr>
                        <a:t>→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PDF parsing for annual reports &amp; RBI circulars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P3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B82F6"/>
                          </a:solidFill>
                        </a:rPr>
                        <a:t>→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Forward-looking regressors (news sentiment, policy)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P3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</a:rPr>
                        <a:t>○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Transaction volume forecasting (CC/DC/UPI)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P4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840480" y="2560320"/>
            <a:ext cx="146304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 — Market Intelligence Platform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Eshaan Adyanthaya  |  MPi Technologies  |  June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 — Market Intelligence Platform</dc:title>
  <dc:subject>PptxGenJS Presentation</dc:subject>
  <dc:creator>Eshaan Adyanthaya</dc:creator>
  <cp:lastModifiedBy>Eshaan Adyanthaya</cp:lastModifiedBy>
  <cp:revision>1</cp:revision>
  <dcterms:created xsi:type="dcterms:W3CDTF">2026-06-28T14:07:55Z</dcterms:created>
  <dcterms:modified xsi:type="dcterms:W3CDTF">2026-06-28T14:07:55Z</dcterms:modified>
</cp:coreProperties>
</file>